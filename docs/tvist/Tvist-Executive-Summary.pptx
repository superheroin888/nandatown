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766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tvist</a:t>
            </a:r>
            <a:pPr algn="l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.api</a:t>
            </a:r>
            <a:pPr algn="l" indent="0" marL="0">
              <a:buNone/>
            </a:pPr>
            <a:r>
              <a:rPr lang="en-US" sz="20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Executive summary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6949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settlement-trust layer for agentic commerce — jurisdiction, consent, escrow, and recall for AI agents that move money.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63524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63524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68680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endpoints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73836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3836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categories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789920" y="164592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647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789920" y="5486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green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024128"/>
            <a:ext cx="4160520" cy="2377440"/>
          </a:xfrm>
          <a:prstGeom prst="roundRect">
            <a:avLst>
              <a:gd name="adj" fmla="val 307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1133856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" y="1389888"/>
            <a:ext cx="383133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now spend money on people's behalf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 in 6 Black Friday '25 purchases AI-assisted; trust is the #1 adoption barrier (Juniper).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rails are instant and irrevocable by regulation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Pix, SEPA Instant, FedNow, UPI; fraud risk “up to 10× higher” (ECB).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were already broken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106M Visa disputes '25 → ~324M by '28; 40–80% friendly fraud; ~$28B/yr merchant losses.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529584"/>
            <a:ext cx="4160520" cy="2395728"/>
          </a:xfrm>
          <a:prstGeom prst="roundRect">
            <a:avLst>
              <a:gd name="adj" fmla="val 3053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630168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TODAY — ALL PARTIAL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" y="3895344"/>
            <a:ext cx="3831336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/ Mastercard / Amex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card disputes only; protocols, not operations.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AP2 · ACP · OKX APP · x402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agent checkout; disputes “future scope” or absent.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 SaaS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cards only; nothing for irrevocable A2A or agent mandates.
</a:t>
            </a:r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(Modulr, Trustly…)</a:t>
            </a:r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hold funds; no programmable dispute-aware escrow.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" y="5468112"/>
            <a:ext cx="3831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built the dispute + escrow layer across them.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TVIST SOLUTION — FOUR PRIMITIVES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00600" y="137160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19472" y="1490472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19472" y="14904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12664" y="14630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Jurisdiction, agreed up front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12664" y="1737360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22-regime registry; governing dispute regime chosen before funds move — the Nash bargaining optimum. No overlap → no deal.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523744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9472" y="2642616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7" name="Text 25"/>
          <p:cNvSpPr/>
          <p:nvPr/>
        </p:nvSpPr>
        <p:spPr>
          <a:xfrm>
            <a:off x="4919472" y="26426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12664" y="2615184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enforced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312664" y="2889504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Principal's mandate (budget, allowlist) checked before settlement — refused, not refunded after.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367588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19472" y="3794760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4919472" y="37947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12664" y="376732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Escrow, delivery-gated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312664" y="4041648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hold until delivery / attestation / time condition is provably met.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4828032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19472" y="4946904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7" name="Text 35"/>
          <p:cNvSpPr/>
          <p:nvPr/>
        </p:nvSpPr>
        <p:spPr>
          <a:xfrm>
            <a:off x="4919472" y="494690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12664" y="4919472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proof-gated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312664" y="5193792"/>
            <a:ext cx="28620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only where the regime permits, in-window, on mandate-breach evidence. Unilateral clawbacks refused.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00600" y="5943600"/>
            <a:ext cx="35204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Grounded in law: </a:t>
            </a:r>
            <a:pPr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disputes return the citation inline (BGB §177 · UCC §2-711).  </a:t>
            </a:r>
            <a:pPr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x402 on-rail: </a:t>
            </a:r>
            <a:pPr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→ signed X-PAYMENT → receipt; replay-safe, consent-capped.  </a:t>
            </a:r>
            <a:pPr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M2M: </a:t>
            </a:r>
            <a:pPr indent="0" marL="0">
              <a:lnSpc>
                <a:spcPct val="95000"/>
              </a:lnSpc>
              <a:buNone/>
            </a:pPr>
            <a:r>
              <a:rPr lang="en-US" sz="7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delegation chains &amp; one-call agent↔agent pacts — zero humans.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8595360" y="1024128"/>
            <a:ext cx="3136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595360" y="1353312"/>
            <a:ext cx="1499616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/>
        </p:spPr>
      </p:sp>
      <p:sp>
        <p:nvSpPr>
          <p:cNvPr id="43" name="Text 41"/>
          <p:cNvSpPr/>
          <p:nvPr/>
        </p:nvSpPr>
        <p:spPr>
          <a:xfrm>
            <a:off x="8595360" y="1353312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· console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0232136" y="1353312"/>
            <a:ext cx="1499616" cy="457200"/>
          </a:xfrm>
          <a:prstGeom prst="roundRect">
            <a:avLst>
              <a:gd name="adj" fmla="val 12000"/>
            </a:avLst>
          </a:prstGeom>
          <a:solidFill>
            <a:srgbClr val="534AB7"/>
          </a:solidFill>
          <a:ln/>
        </p:spPr>
      </p:sp>
      <p:sp>
        <p:nvSpPr>
          <p:cNvPr id="45" name="Text 43"/>
          <p:cNvSpPr/>
          <p:nvPr/>
        </p:nvSpPr>
        <p:spPr>
          <a:xfrm>
            <a:off x="10232136" y="1353312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· SDK · SKILL.md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595360" y="1920240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01736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05088" y="1920240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DUAL-USE API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content-negotiated · self-describing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595360" y="2432304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05088" y="2432304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JURISDICTION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regimes · Nash-optimal pick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595360" y="2944368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05088" y="2944368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TRUST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· delegation chains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595360" y="3456432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05088" y="3456432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VALUE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conserved ledger · escrow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595360" y="3968496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705088" y="3968496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RESOLUTION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· law-cited disputes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595360" y="4480560"/>
            <a:ext cx="3136392" cy="438912"/>
          </a:xfrm>
          <a:prstGeom prst="roundRect">
            <a:avLst>
              <a:gd name="adj" fmla="val 12500"/>
            </a:avLst>
          </a:prstGeom>
          <a:solidFill>
            <a:srgbClr val="101736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705088" y="4480560"/>
            <a:ext cx="2916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 + CUSTODY   </a:t>
            </a:r>
            <a:pPr algn="l" indent="0" marL="0">
              <a:buNone/>
            </a:pPr>
            <a:r>
              <a:rPr lang="en-US" sz="8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 · SEPA · UPI · x402 …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595360" y="5120640"/>
            <a:ext cx="3136392" cy="1234440"/>
          </a:xfrm>
          <a:prstGeom prst="roundRect">
            <a:avLst>
              <a:gd name="adj" fmla="val 5926"/>
            </a:avLst>
          </a:prstGeom>
          <a:solidFill>
            <a:srgbClr val="151D3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23376" y="5193792"/>
            <a:ext cx="2880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TODAY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8723376" y="5431536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Adversarially validated in MIT/NANDA's swarm rig — every attack blocked vs a plain ledger. </a:t>
            </a:r>
            <a:pPr indent="0" marL="0">
              <a:lnSpc>
                <a:spcPct val="102000"/>
              </a:lnSpc>
              <a:buNone/>
            </a:pPr>
            <a:r>
              <a:rPr lang="en-US" sz="88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dual-use API + site: 33 endpoints incl. legal taxonomy, x402, M2M, region-suggest + spectrum; jurisdiction globe + Nash 1–1/1–n/n–n visualizer; 647 tests green. DigiDoot as flagship use case. Live: tvist-api-mias-projects-667d1349.vercel.app</a:t>
            </a:r>
            <a:endParaRPr lang="en-US" sz="880" dirty="0"/>
          </a:p>
        </p:txBody>
      </p:sp>
      <p:sp>
        <p:nvSpPr>
          <p:cNvPr id="61" name="Text 59"/>
          <p:cNvSpPr/>
          <p:nvPr/>
        </p:nvSpPr>
        <p:spPr>
          <a:xfrm>
            <a:off x="457200" y="6419088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  </a:t>
            </a:r>
            <a:pPr algn="l" indent="0" marL="0">
              <a:buNone/>
            </a:pPr>
            <a:r>
              <a:rPr lang="en-US" sz="9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competitive — networks get their intent standards operationalized; custody providers their rules engine; agent platforms the trust layer their protocols defer.  </a:t>
            </a:r>
            <a:pPr algn="l" indent="0" marL="0">
              <a:buNone/>
            </a:pPr>
            <a:r>
              <a:rPr lang="en-US" sz="95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demo — notional credits, not a bank; legal citations are not legal advice.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SPECTRUM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relationships. One gate logic.</a:t>
            </a:r>
            <a:endParaRPr lang="en-US" sz="2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286000"/>
                <a:gridCol w="3474720"/>
                <a:gridCol w="359359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it solves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-&gt; 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agent overspends the human's mandate on a final rail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/consent -&gt; POST /pay {consent_id} (403 over budget)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-&gt; Sub-agent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delegation (attenuated)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sub-agents exceed their delegator's authority; no chain control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/m2m/delegate (attenuated, chains to root) -&gt; spend via the delegation_id anywhere a consent_id works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&lt;-&gt; Agent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(Nash region + escrow)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machines with no shared jurisdiction or trust trade blind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/m2m/handshake (Nash region + mandate + funded escrow) -&gt; /escrow/{id}/deliver -&gt; /release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-&gt; Resource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x402 (consent-capped, replay-safe)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pay-per-call APIs on an irrevocable rail; replay + overspend risk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/x402/resource/{name} (402) -&gt; retry with signed X-PAYMENT (consent-capped, replay-safe)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6344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 stack under all four:  </a:t>
            </a:r>
            <a:pPr indent="0" marL="0">
              <a:buNone/>
            </a:pPr>
            <a:r>
              <a:rPr lang="en-US" sz="110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jurisdiction — Nash-optimal region, agreed before funds move   ·   2 consent — mandate/delegation checked before settlement   ·   3 escrow — funds release only on delivery proof   ·   4 resolution — regime-gated recall + law-cited disputes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Interactive: homepage /#spectrum (every lane clickable) · machine view: GET /spectrum (structured + ASCII + Mermaid)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JURISDICTION REGISTRY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real regimes — negotiated before funds move (Nash-optimal)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200400"/>
                <a:gridCol w="777240"/>
                <a:gridCol w="594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/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Ungoverned (permissive default)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eu_sepa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· SEPA Instant (SCT Inst recall)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uk_fps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· Faster Payments (APP reimbursement)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nordic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Nordics · Klarna / BNPL / Swish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ch_twint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Switzerland · TWINT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br_pix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 · Pix (MED 2.0, 11-day recovery)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mx_spei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Mexico · SPEI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us_fednow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· FedNow (no federal recall standard)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us_rtp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· RTP (TCH, request-for-return)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ca_interac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Canada · Interac / Real-Time Rail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in_upi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· UPI (NPCI dispute flows)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200400"/>
                <a:gridCol w="777240"/>
                <a:gridCol w="594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/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sg_fast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 · FAST / PayNow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au_npp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 · NPP / Osko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jp_zengin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· Zengin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hk_fps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Hong Kong · FPS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ae_aani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UAE · Aani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sa_sarie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Arabia · sarie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za_payshap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 · PayShap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ng_nip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Nigeria · NIBSS Instant Payments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ke_mpesa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Kenya · M-Pesa / PesaLink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cn_ibps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 · IBPS / UnionPay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stablecoin_x402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 · Coinbase x402 (no chargeback)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regime encodes irrevocability · recall rules · recovery window · dispute taxonomy · escrow requirements — GET /regions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DISPUTE TAXONOMY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code grounded in civil &amp; commercial law — citations returned inline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103120"/>
                <a:gridCol w="3602736"/>
                <a:gridCol w="360273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Civil-law basis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Common-law basis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Non-performance (non-delivery)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goods_not_received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Breach of obligation to perform: BGB §§275, 323 (DE); Code civil arts. 1217, 1610 (FR); CISG arts. 30, 45, 49.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Breach of contract; total failure of consideration; UCC §2-711 buyer's remedies (US).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Non-conformity (defective performance)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not_as_described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Conformity of goods: Directive (EU) 2019/771; CISG art. 35; vices cachés, Code civil art. 1641 (FR).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terms: Consumer Rights Act 2015 ss. 9–11 (UK); UCC §§2-314/2-315 warranties (US).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/ unauthorized transaction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 / dolus vitiating consent (Code civil art. 1137); PSD2 arts. 64, 73–74 unauthorized-transaction liability.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Tort of deceit / fraudulent misrepresentation; EFTA + Regulation E, 12 CFR 1005 (US consumer EFT).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Agency / mandate (excess of authority)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agent_exceeded_mandate, verifiable_intent_mismatch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Mandate &amp; representation: BGB §§164–181 (falsus procurator §177); Code civil arts. 1153–1161, 1984 ff.; CO art. 394 ff. (CH).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vs apparent authority, ratification: Restatement (Third) of Agency (US); Indian Contract Act 1872 ss. 182–238.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Mistaken payment (unjust enrichment)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mistaken_payment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Condictio indebiti: BGB §812; Code civil art. 1302 (paiement de l'indu); CO arts. 62 ff. (CH).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Restitution for mistaken payment (Barclays Bank v W.J. Simms [1980]); unjust enrichment.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Procedural recall (scheme remedy)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recall_request, sepa_recall, pix_med_return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 rulebooks as incorporated contract terms: EPC SCT Inst Rulebook recall; Pix MED under Resolução BCB 1/2020.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rules as binding multilateral contract: Reg J subpart C / UCC 4A-211 (US); Pay.UK / TCH rules.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/ continuing obligations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recurring_disputed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Termination of continuing obligations: BGB §314; consumer withdrawal, Directive 2011/83/EU.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Cancellation &amp; preauthorized-transfer stops: Reg E, 12 CFR 1005.10 (US); contract termination at common law.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jurisdictions carry their operative statutes, scheme rulebooks &amp; regulator linked to the official source (eur-lex, legislation.gov.uk, BCB, eCFR, NPCI/RBI …) — GET /taxonomy · GET /regions/{region}/legal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RAILS OF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on-rail payments · machine-to-machine commerce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x402 — HTTP-native agent payments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GET a paid resource → 402 + structured requirements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24231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retry with signed X-PAYMENT (EIP-3009-shaped)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facilitator verify/settle → resource + receipt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33375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irrevocable regime (stablecoin_x402): recall always refused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947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replay rejected — nonce single-use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5800" y="4251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consent cap enforced even on-chain (403 over budget)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137160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151D3F"/>
          </a:solidFill>
          <a:ln w="9525">
            <a:solidFill>
              <a:srgbClr val="2630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🤖⇄🤖 M2M — agent-swarm commerce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1965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attenuated delegation: child budget ≤ delegator's, always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92240" y="24231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chains compose &amp; trace to the root mandate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0" y="28803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one-call handshake: Nash region + mandate + funded escrow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92240" y="33375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delivery proof releases; pact status live at /m2m/pact/{id}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37947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over-delegation refused before funds move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4251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no shared region → 409, do not transact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delegation id works anywhere a consent_id does — /pay, x402, handshakes: one gate logic end to end.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TODAY — NOT SLIDEWARE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Adversarially validated, live, and self-serve for agents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65176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Tvist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7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 with no shared jurisdiction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settles ungoverned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→ no deal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beyond consent / delegation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 refused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 escrow without delivering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up front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blocked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6EA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0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claw back a legitimate final payment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871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reverses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 w/o breach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0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71600"/>
            <a:ext cx="4251960" cy="2651760"/>
          </a:xfrm>
          <a:prstGeom prst="roundRect">
            <a:avLst>
              <a:gd name="adj" fmla="val 3448"/>
            </a:avLst>
          </a:prstGeom>
          <a:solidFill>
            <a:srgbClr val="151D3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0" y="150876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MIT/NANDA rig: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swarm scenarios, 10 adversarial validators — every attack blocked vs a plain ledger; 586 tests.
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service: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endpoints incl. region-suggest, jurisdiction globe + Nash visualizer on-site, one SKILL.md, 61 endpoint tests — 647 green total. Live: tvist-api-mias-projects-667d1349.vercel.app
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Flagship: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DigiDoot — an agent per Indian citizen, settled via Tvist on UPI.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44805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  </a:t>
            </a:r>
            <a:pPr indent="0" marL="0">
              <a:buNone/>
            </a:pPr>
            <a:r>
              <a:rPr lang="en-US" sz="1200" dirty="0">
                <a:solidFill>
                  <a:srgbClr val="E6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competitive — networks get their intent standards operationalized; custody providers their rules engine; agent platforms the trust layer their protocols defer. The wedge compounds with every rail, protocol, and jurisdiction added.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3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Disclaimer: Technical demonstration only — a notional-credits sandbox, not a bank, payment institution, or law firm. Legal references cite real primary sources but are engineering-grade mappings, not legal advice; obtain qualified local counsel before relying on them in any jurisdiction.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2026-07-07T17:34:24Z</dcterms:created>
  <dcterms:modified xsi:type="dcterms:W3CDTF">2026-07-07T17:34:24Z</dcterms:modified>
</cp:coreProperties>
</file>