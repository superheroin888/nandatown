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766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tvist</a:t>
            </a:r>
            <a:pPr algn="l"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.ai</a:t>
            </a:r>
            <a:pPr algn="l" indent="0" marL="0">
              <a:buNone/>
            </a:pPr>
            <a:r>
              <a:rPr lang="en-US" sz="20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Executive summary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6949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settlement-trust layer for agentic commerce — jurisdiction, consent, escrow, and recall for AI agents that move money.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635240" y="164592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635240" y="5486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686800" y="164592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0" y="5486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endpoints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9738360" y="164592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738360" y="5486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categories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789920" y="164592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584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789920" y="5486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green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024128"/>
            <a:ext cx="4160520" cy="2377440"/>
          </a:xfrm>
          <a:prstGeom prst="roundRect">
            <a:avLst>
              <a:gd name="adj" fmla="val 307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1133856"/>
            <a:ext cx="3831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" y="1389888"/>
            <a:ext cx="383133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now spend money on people's behalf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 in 6 Black Friday '25 purchases AI-assisted; trust is the #1 adoption barrier (Juniper).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rails are instant and irrevocable by regulation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Pix, SEPA Instant, FedNow, UPI; fraud risk “up to 10× higher” (ECB).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Disputes were already broken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106M Visa disputes '25 → ~324M by '28; 40–80% friendly fraud; ~$28B/yr merchant losses.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529584"/>
            <a:ext cx="4160520" cy="2395728"/>
          </a:xfrm>
          <a:prstGeom prst="roundRect">
            <a:avLst>
              <a:gd name="adj" fmla="val 3053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3630168"/>
            <a:ext cx="3831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TODAY — ALL PARTIAL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" y="3895344"/>
            <a:ext cx="3831336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/ Mastercard / Amex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card disputes only; protocols, not operations.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AP2 · ACP · OKX APP · x402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agent checkout; disputes “future scope” or absent.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Chargeback SaaS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cards only; nothing for irrevocable A2A or agent mandates.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 (Modulr, Trustly…)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hold funds; no programmable dispute-aware escrow.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1792" y="5468112"/>
            <a:ext cx="3831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built the dispute + escrow layer across them.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00600" y="102412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TVIST SOLUTION — FOUR PRIMITIVES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00600" y="137160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19472" y="1490472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2" name="Text 20"/>
          <p:cNvSpPr/>
          <p:nvPr/>
        </p:nvSpPr>
        <p:spPr>
          <a:xfrm>
            <a:off x="4919472" y="14904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12664" y="146304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Jurisdiction, agreed up front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312664" y="1737360"/>
            <a:ext cx="28620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22-regime registry; governing dispute regime chosen before funds move — the Nash bargaining optimum. No overlap → no deal.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00600" y="2523744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19472" y="2642616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7" name="Text 25"/>
          <p:cNvSpPr/>
          <p:nvPr/>
        </p:nvSpPr>
        <p:spPr>
          <a:xfrm>
            <a:off x="4919472" y="26426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12664" y="2615184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enforced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312664" y="2889504"/>
            <a:ext cx="28620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Principal's mandate (budget, allowlist) checked before settlement — refused, not refunded after.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00600" y="367588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19472" y="3794760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2" name="Text 30"/>
          <p:cNvSpPr/>
          <p:nvPr/>
        </p:nvSpPr>
        <p:spPr>
          <a:xfrm>
            <a:off x="4919472" y="37947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12664" y="376732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Escrow, delivery-gated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312664" y="4041648"/>
            <a:ext cx="28620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hold until delivery / attestation / time condition is provably met.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4828032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19472" y="4946904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7" name="Text 35"/>
          <p:cNvSpPr/>
          <p:nvPr/>
        </p:nvSpPr>
        <p:spPr>
          <a:xfrm>
            <a:off x="4919472" y="494690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312664" y="4919472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Recall, proof-gated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312664" y="5193792"/>
            <a:ext cx="28620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only where the regime permits, in-window, on mandate-breach evidence. Unilateral clawbacks refused.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00600" y="598932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Grounded in law: </a:t>
            </a:r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disputes return the citation inline (BGB §177 · UCC §2-711).  </a:t>
            </a:r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x402 on-rail: </a:t>
            </a:r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402 → signed X-PAYMENT → receipt; replay-safe, consent-capped.</a:t>
            </a:r>
            <a:endParaRPr lang="en-US" sz="860" dirty="0"/>
          </a:p>
        </p:txBody>
      </p:sp>
      <p:sp>
        <p:nvSpPr>
          <p:cNvPr id="41" name="Text 39"/>
          <p:cNvSpPr/>
          <p:nvPr/>
        </p:nvSpPr>
        <p:spPr>
          <a:xfrm>
            <a:off x="8595360" y="1024128"/>
            <a:ext cx="3136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595360" y="1353312"/>
            <a:ext cx="1499616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/>
        </p:spPr>
      </p:sp>
      <p:sp>
        <p:nvSpPr>
          <p:cNvPr id="43" name="Text 41"/>
          <p:cNvSpPr/>
          <p:nvPr/>
        </p:nvSpPr>
        <p:spPr>
          <a:xfrm>
            <a:off x="8595360" y="1353312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</a:t>
            </a:r>
            <a:endParaRPr lang="en-US" sz="8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· console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10232136" y="1353312"/>
            <a:ext cx="1499616" cy="457200"/>
          </a:xfrm>
          <a:prstGeom prst="roundRect">
            <a:avLst>
              <a:gd name="adj" fmla="val 12000"/>
            </a:avLst>
          </a:prstGeom>
          <a:solidFill>
            <a:srgbClr val="534AB7"/>
          </a:solidFill>
          <a:ln/>
        </p:spPr>
      </p:sp>
      <p:sp>
        <p:nvSpPr>
          <p:cNvPr id="45" name="Text 43"/>
          <p:cNvSpPr/>
          <p:nvPr/>
        </p:nvSpPr>
        <p:spPr>
          <a:xfrm>
            <a:off x="10232136" y="1353312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  <a:endParaRPr lang="en-US" sz="8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· SDK · SKILL.md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8595360" y="1920240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01736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05088" y="1920240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DUAL-USE API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content-negotiated · self-describing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595360" y="2432304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705088" y="2432304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JURISDICTION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regimes · Nash-optimal pick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595360" y="2944368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705088" y="2944368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TRUST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vault · mandate checks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595360" y="3456432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705088" y="3456432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VALUE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conserved ledger · escrow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595360" y="3968496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705088" y="3968496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RESOLUTION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· law-cited disputes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595360" y="4480560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01736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705088" y="4480560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RAILS + CUSTODY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 · SEPA · UPI · x402 …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8595360" y="5120640"/>
            <a:ext cx="3136392" cy="1234440"/>
          </a:xfrm>
          <a:prstGeom prst="roundRect">
            <a:avLst>
              <a:gd name="adj" fmla="val 5926"/>
            </a:avLst>
          </a:prstGeom>
          <a:solidFill>
            <a:srgbClr val="151D3F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723376" y="5193792"/>
            <a:ext cx="2880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TODAY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8723376" y="5431536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8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Adversarially validated in MIT/NANDA's swarm rig — every attack blocked vs a plain ledger. </a:t>
            </a:r>
            <a:pPr indent="0" marL="0">
              <a:lnSpc>
                <a:spcPct val="102000"/>
              </a:lnSpc>
              <a:buNone/>
            </a:pPr>
            <a:r>
              <a:rPr lang="en-US" sz="88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dual-use API + site: 25 endpoints incl. legal taxonomy + native x402; 584 tests green. DigiDoot as flagship use case.</a:t>
            </a:r>
            <a:endParaRPr lang="en-US" sz="880" dirty="0"/>
          </a:p>
        </p:txBody>
      </p:sp>
      <p:sp>
        <p:nvSpPr>
          <p:cNvPr id="61" name="Text 59"/>
          <p:cNvSpPr/>
          <p:nvPr/>
        </p:nvSpPr>
        <p:spPr>
          <a:xfrm>
            <a:off x="457200" y="6419088"/>
            <a:ext cx="112745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  </a:t>
            </a:r>
            <a:pPr algn="l" indent="0" marL="0">
              <a:buNone/>
            </a:pPr>
            <a:r>
              <a:rPr lang="en-US" sz="9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Complementary, not competitive — networks get their intent standards operationalized; custody providers their rules engine; agent platforms the trust layer their protocols defer.  </a:t>
            </a:r>
            <a:pPr algn="l" indent="0" marL="0">
              <a:buNone/>
            </a:pPr>
            <a:r>
              <a:rPr lang="en-US" sz="950" i="1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demo — notional credits, not a bank; legal citations are not legal advice.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2026-07-05T22:13:53Z</dcterms:created>
  <dcterms:modified xsi:type="dcterms:W3CDTF">2026-07-05T22:13:53Z</dcterms:modified>
</cp:coreProperties>
</file>